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9D2449"/>
                </a:solidFill>
              </a:defRPr>
            </a:pPr>
            <a:r>
              <a:t>Control del Sarampión: Tres Indicadores Clave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Estrategia Nacional de Vacunación</a:t>
            </a:r>
          </a:p>
          <a:p>
            <a:pPr>
              <a:defRPr sz="2200"/>
            </a:pPr>
            <a:r>
              <a:t>Seguimiento al 13 de febrero de 2026</a:t>
            </a:r>
          </a:p>
          <a:p>
            <a:pPr>
              <a:defRPr sz="2200"/>
            </a:pPr>
            <a:r>
              <a:t>Secretaría de Salud | México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Panorama Epidemiológico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Casos Totales Confirmados: 9,712</a:t>
            </a:r>
          </a:p>
          <a:p>
            <a:pPr>
              <a:spcAft>
                <a:spcPts val="1000"/>
              </a:spcAft>
              <a:defRPr sz="2000"/>
            </a:pPr>
            <a:r>
              <a:t>Casos Activos: 1,185</a:t>
            </a:r>
          </a:p>
          <a:p>
            <a:pPr>
              <a:spcAft>
                <a:spcPts val="1000"/>
              </a:spcAft>
              <a:defRPr sz="2000"/>
            </a:pPr>
            <a:r>
              <a:t>Defunciones: 29</a:t>
            </a:r>
          </a:p>
          <a:p>
            <a:pPr>
              <a:spcAft>
                <a:spcPts val="1000"/>
              </a:spcAft>
              <a:defRPr sz="2000"/>
            </a:pPr>
            <a:r>
              <a:t>Tasa de Letalidad Nacional: 0.30%</a:t>
            </a:r>
          </a:p>
          <a:p>
            <a:pPr>
              <a:spcAft>
                <a:spcPts val="1000"/>
              </a:spcAft>
              <a:defRPr sz="2000"/>
            </a:pPr>
            <a:r>
              <a:t>24 de 32 entidades con baja incidencia acumulada (&lt;100 casos).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85C4D"/>
                </a:solidFill>
              </a:defRPr>
            </a:pPr>
            <a:r>
              <a:t>Los Tres Pilares del Monitoreo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Indicador 1: Inmunización Temprana (6 a 11 meses).</a:t>
            </a:r>
          </a:p>
          <a:p>
            <a:pPr>
              <a:spcAft>
                <a:spcPts val="1000"/>
              </a:spcAft>
              <a:defRPr sz="2000"/>
            </a:pPr>
            <a:r>
              <a:t>Indicador 2: Consolidación Infantil (19 meses a 12 años).</a:t>
            </a:r>
          </a:p>
          <a:p>
            <a:pPr>
              <a:spcAft>
                <a:spcPts val="1000"/>
              </a:spcAft>
              <a:defRPr sz="2000"/>
            </a:pPr>
            <a:r>
              <a:t>Indicador 3: Recuperación Adulta (13 a 49 años).</a:t>
            </a:r>
          </a:p>
          <a:p>
            <a:pPr>
              <a:spcAft>
                <a:spcPts val="1000"/>
              </a:spcAft>
              <a:defRPr sz="2000"/>
            </a:pPr>
            <a:r>
              <a:t>Meta Homogénea Nacional: Cobertura ≥ 95%.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Indicador 1: Inmunización Temprana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Población: Lactantes de 6 a 11 meses (Dosis 0).</a:t>
            </a:r>
          </a:p>
          <a:p>
            <a:pPr>
              <a:spcAft>
                <a:spcPts val="1000"/>
              </a:spcAft>
              <a:defRPr sz="2000"/>
            </a:pPr>
            <a:r>
              <a:t>Cobertura Actual: 67%</a:t>
            </a:r>
          </a:p>
          <a:p>
            <a:pPr>
              <a:spcAft>
                <a:spcPts val="1000"/>
              </a:spcAft>
              <a:defRPr sz="2000"/>
            </a:pPr>
            <a:r>
              <a:t>Meta: 95%</a:t>
            </a:r>
          </a:p>
          <a:p>
            <a:pPr>
              <a:spcAft>
                <a:spcPts val="1000"/>
              </a:spcAft>
              <a:defRPr sz="2000"/>
            </a:pPr>
            <a:r>
              <a:t>Brecha a cerrar: 28% puntos porcentuales.</a:t>
            </a:r>
          </a:p>
          <a:p>
            <a:pPr>
              <a:spcAft>
                <a:spcPts val="1000"/>
              </a:spcAft>
              <a:defRPr sz="2000"/>
            </a:pPr>
            <a:r>
              <a:t>Prioridad en entidades con casos activos.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85C4D"/>
                </a:solidFill>
              </a:defRPr>
            </a:pPr>
            <a:r>
              <a:t>Indicador 2: Consolidación Infantil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Población: Niños y niñas de 19 meses a 12 años.</a:t>
            </a:r>
          </a:p>
          <a:p>
            <a:pPr>
              <a:spcAft>
                <a:spcPts val="1000"/>
              </a:spcAft>
              <a:defRPr sz="2000"/>
            </a:pPr>
            <a:r>
              <a:t>Cobertura Actual: 81%</a:t>
            </a:r>
          </a:p>
          <a:p>
            <a:pPr>
              <a:spcAft>
                <a:spcPts val="1000"/>
              </a:spcAft>
              <a:defRPr sz="2000"/>
            </a:pPr>
            <a:r>
              <a:t>Identificado como el grupo más vulnerable.</a:t>
            </a:r>
          </a:p>
          <a:p>
            <a:pPr>
              <a:spcAft>
                <a:spcPts val="1000"/>
              </a:spcAft>
              <a:defRPr sz="2000"/>
            </a:pPr>
            <a:r>
              <a:t>Meta: Alcanzar el 95% para inmunidad de rebaño.</a:t>
            </a:r>
          </a:p>
          <a:p>
            <a:pPr>
              <a:spcAft>
                <a:spcPts val="1000"/>
              </a:spcAft>
              <a:defRPr sz="2000"/>
            </a:pPr>
            <a:r>
              <a:t>Brecha a cerrar: 14% puntos porcentuales.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B35D00"/>
                </a:solidFill>
              </a:defRPr>
            </a:pPr>
            <a:r>
              <a:t>Indicador 3: Recuperación Adulta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Población: Adultos de 13 a 49 años.</a:t>
            </a:r>
          </a:p>
          <a:p>
            <a:pPr>
              <a:spcAft>
                <a:spcPts val="1000"/>
              </a:spcAft>
              <a:defRPr sz="2000"/>
            </a:pPr>
            <a:r>
              <a:t>Cobertura Actual: 42%</a:t>
            </a:r>
          </a:p>
          <a:p>
            <a:pPr>
              <a:spcAft>
                <a:spcPts val="1000"/>
              </a:spcAft>
              <a:defRPr sz="2000"/>
            </a:pPr>
            <a:r>
              <a:t>Foco: 7 Entidades Federativas con alta incidencia.</a:t>
            </a:r>
          </a:p>
          <a:p>
            <a:pPr>
              <a:spcAft>
                <a:spcPts val="1000"/>
              </a:spcAft>
              <a:defRPr sz="2000"/>
            </a:pPr>
            <a:r>
              <a:t>Meta de recuperación de coberturas históricas.</a:t>
            </a:r>
          </a:p>
          <a:p>
            <a:pPr>
              <a:spcAft>
                <a:spcPts val="1000"/>
              </a:spcAft>
              <a:defRPr sz="2000"/>
            </a:pPr>
            <a:r>
              <a:t>Uso de vacuna Doble Viral (SR).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Metas de 1ra Dosis por Institución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Meta Nacional Total: 638,647 dosis.</a:t>
            </a:r>
          </a:p>
          <a:p>
            <a:pPr>
              <a:spcAft>
                <a:spcPts val="1000"/>
              </a:spcAft>
              <a:defRPr sz="2000"/>
            </a:pPr>
            <a:r>
              <a:t>Secretaría de Salud (SSA): 198,990 dosis.</a:t>
            </a:r>
          </a:p>
          <a:p>
            <a:pPr>
              <a:spcAft>
                <a:spcPts val="1000"/>
              </a:spcAft>
              <a:defRPr sz="2000"/>
            </a:pPr>
            <a:r>
              <a:t>IMSS-BIENESTAR: 245,134 dosis.</a:t>
            </a:r>
          </a:p>
          <a:p>
            <a:pPr>
              <a:spcAft>
                <a:spcPts val="1000"/>
              </a:spcAft>
              <a:defRPr sz="2000"/>
            </a:pPr>
            <a:r>
              <a:t>IMSS-ORDINARIO: 150,695 dosis.</a:t>
            </a:r>
          </a:p>
          <a:p>
            <a:pPr>
              <a:spcAft>
                <a:spcPts val="1000"/>
              </a:spcAft>
              <a:defRPr sz="2000"/>
            </a:pPr>
            <a:r>
              <a:t>Esfuerzo coordinado para lograr el 95% antes de noviembre.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Directrices de 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Menores de 12 años: Acudir de inmediato si no tienen esquema completo.</a:t>
            </a:r>
          </a:p>
          <a:p>
            <a:pPr>
              <a:spcAft>
                <a:spcPts val="1000"/>
              </a:spcAft>
              <a:defRPr sz="2000"/>
            </a:pPr>
            <a:r>
              <a:t>Aplicar refuerzo a los 6 meses de la primera dosis.</a:t>
            </a:r>
          </a:p>
          <a:p>
            <a:pPr>
              <a:spcAft>
                <a:spcPts val="1000"/>
              </a:spcAft>
              <a:defRPr sz="2000"/>
            </a:pPr>
            <a:r>
              <a:t>13 a 49 años: Vacunación prioritaria en centros de salud y brigadas.</a:t>
            </a:r>
          </a:p>
          <a:p>
            <a:pPr>
              <a:spcAft>
                <a:spcPts val="1000"/>
              </a:spcAft>
              <a:defRPr sz="2000"/>
            </a:pPr>
            <a:r>
              <a:t>Uso de plataforma nacional para validación de disponibilidad.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85C4D"/>
                </a:solidFill>
              </a:defRPr>
            </a:pPr>
            <a:r>
              <a:t>Logística y Garantía de Abasto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Dosis Distribuidas en Estados: 16.7 Millones.</a:t>
            </a:r>
          </a:p>
          <a:p>
            <a:pPr>
              <a:spcAft>
                <a:spcPts val="1000"/>
              </a:spcAft>
              <a:defRPr sz="2000"/>
            </a:pPr>
            <a:r>
              <a:t>Dosis disponibles para envío inmediato: 11.0 Millones.</a:t>
            </a:r>
          </a:p>
          <a:p>
            <a:pPr>
              <a:spcAft>
                <a:spcPts val="1000"/>
              </a:spcAft>
              <a:defRPr sz="2000"/>
            </a:pPr>
            <a:r>
              <a:t>Suficiencia total para cubrir las metas nacionales.</a:t>
            </a:r>
          </a:p>
          <a:p>
            <a:pPr>
              <a:spcAft>
                <a:spcPts val="1000"/>
              </a:spcAft>
              <a:defRPr sz="2000"/>
            </a:pPr>
            <a:r>
              <a:t>Distribución diaria basada en reporte de inventarios almacenes.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Ruta de Éxito en Territorio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Seguimiento diario de la evolución de casos por municipio.</a:t>
            </a:r>
          </a:p>
          <a:p>
            <a:pPr>
              <a:spcAft>
                <a:spcPts val="1000"/>
              </a:spcAft>
              <a:defRPr sz="2000"/>
            </a:pPr>
            <a:r>
              <a:t>Garantizar abasto en los 21,000 puntos de vacunación.</a:t>
            </a:r>
          </a:p>
          <a:p>
            <a:pPr>
              <a:spcAft>
                <a:spcPts val="1000"/>
              </a:spcAft>
              <a:defRPr sz="2000"/>
            </a:pPr>
            <a:r>
              <a:t>Actualización diaria de plataforma sectorial.</a:t>
            </a:r>
          </a:p>
          <a:p>
            <a:pPr>
              <a:spcAft>
                <a:spcPts val="1000"/>
              </a:spcAft>
              <a:defRPr sz="2000"/>
            </a:pPr>
            <a:r>
              <a:t>Nombramiento de enlaces exclusivos para monitoreo.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D2449"/>
                </a:solidFill>
              </a:defRPr>
            </a:pPr>
            <a:r>
              <a:t>Consulta de Puntos de Vacunación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Más de 21,000 puntos disponibles a nivel nacional.</a:t>
            </a:r>
          </a:p>
          <a:p>
            <a:pPr>
              <a:spcAft>
                <a:spcPts val="1000"/>
              </a:spcAft>
              <a:defRPr sz="2000"/>
            </a:pPr>
            <a:r>
              <a:t>Portal Web: dondemevacuno.salud.gob.mx</a:t>
            </a:r>
          </a:p>
          <a:p>
            <a:pPr>
              <a:spcAft>
                <a:spcPts val="1000"/>
              </a:spcAft>
              <a:defRPr sz="2000"/>
            </a:pPr>
            <a:r>
              <a:t>¡Tu protección es nuestra prioridad!</a:t>
            </a:r>
          </a:p>
          <a:p>
            <a:pPr>
              <a:spcAft>
                <a:spcPts val="1000"/>
              </a:spcAft>
              <a:defRPr sz="2000"/>
            </a:pPr>
            <a:r>
              <a:t>Acude hoy mismo.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